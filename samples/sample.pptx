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60" r:id="rId3"/>
    <p:sldId id="261" r:id="rId4"/>
    <p:sldId id="264" r:id="rId5"/>
    <p:sldId id="285" r:id="rId6"/>
    <p:sldId id="270" r:id="rId7"/>
    <p:sldId id="271" r:id="rId8"/>
    <p:sldId id="27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070" autoAdjust="0"/>
  </p:normalViewPr>
  <p:slideViewPr>
    <p:cSldViewPr>
      <p:cViewPr varScale="1">
        <p:scale>
          <a:sx n="108" d="100"/>
          <a:sy n="108" d="100"/>
        </p:scale>
        <p:origin x="178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FD50593-132D-44A1-B73C-2FFF42C39B3E}" type="datetimeFigureOut">
              <a:rPr lang="en-US" smtClean="0"/>
              <a:pPr/>
              <a:t>1/7/26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9DC8CF0-76DB-497D-B754-8EC570D523D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0C15CF7-F2C0-472A-8FE4-FAD89065DF16}" type="datetimeFigureOut">
              <a:rPr lang="en-US" smtClean="0"/>
              <a:pPr/>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C15CF7-F2C0-472A-8FE4-FAD89065DF16}" type="datetimeFigureOut">
              <a:rPr lang="en-US" smtClean="0"/>
              <a:pPr/>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C15CF7-F2C0-472A-8FE4-FAD89065DF16}" type="datetimeFigureOut">
              <a:rPr lang="en-US" smtClean="0"/>
              <a:pPr/>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0C15CF7-F2C0-472A-8FE4-FAD89065DF16}" type="datetimeFigureOut">
              <a:rPr lang="en-US" smtClean="0"/>
              <a:pPr/>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C15CF7-F2C0-472A-8FE4-FAD89065DF16}" type="datetimeFigureOut">
              <a:rPr lang="en-US" smtClean="0"/>
              <a:pPr/>
              <a:t>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0C15CF7-F2C0-472A-8FE4-FAD89065DF16}" type="datetimeFigureOut">
              <a:rPr lang="en-US" smtClean="0"/>
              <a:pPr/>
              <a:t>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C15CF7-F2C0-472A-8FE4-FAD89065DF16}" type="datetimeFigureOut">
              <a:rPr lang="en-US" smtClean="0"/>
              <a:pPr/>
              <a:t>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C15CF7-F2C0-472A-8FE4-FAD89065DF16}" type="datetimeFigureOut">
              <a:rPr lang="en-US" smtClean="0"/>
              <a:pPr/>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C15CF7-F2C0-472A-8FE4-FAD89065DF16}" type="datetimeFigureOut">
              <a:rPr lang="en-US" smtClean="0"/>
              <a:pPr/>
              <a:t>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C15CF7-F2C0-472A-8FE4-FAD89065DF16}" type="datetimeFigureOut">
              <a:rPr lang="en-US" smtClean="0"/>
              <a:pPr/>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0C15CF7-F2C0-472A-8FE4-FAD89065DF16}" type="datetimeFigureOut">
              <a:rPr lang="en-US" smtClean="0"/>
              <a:pPr/>
              <a:t>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18B7AF-4856-4C54-911F-D6343A5C50A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C15CF7-F2C0-472A-8FE4-FAD89065DF16}" type="datetimeFigureOut">
              <a:rPr lang="en-US" smtClean="0"/>
              <a:pPr/>
              <a:t>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18B7AF-4856-4C54-911F-D6343A5C50A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en.wikipedia.org/wiki/Concentrate"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omna\Documents\romna school 2020\ART INTEGRATED ACTIVITIES\arts-integration-and-education-for-the-non-art-classroom-1-638.jpg"/>
          <p:cNvPicPr>
            <a:picLocks noChangeAspect="1" noChangeArrowheads="1"/>
          </p:cNvPicPr>
          <p:nvPr/>
        </p:nvPicPr>
        <p:blipFill>
          <a:blip r:embed="rId2" cstate="print"/>
          <a:srcRect/>
          <a:stretch>
            <a:fillRect/>
          </a:stretch>
        </p:blipFill>
        <p:spPr bwMode="auto">
          <a:xfrm>
            <a:off x="9227" y="-1"/>
            <a:ext cx="9134773" cy="6858239"/>
          </a:xfrm>
          <a:prstGeom prst="rect">
            <a:avLst/>
          </a:prstGeom>
          <a:noFill/>
        </p:spPr>
      </p:pic>
      <p:sp>
        <p:nvSpPr>
          <p:cNvPr id="7" name="TextBox 6"/>
          <p:cNvSpPr txBox="1"/>
          <p:nvPr/>
        </p:nvSpPr>
        <p:spPr>
          <a:xfrm>
            <a:off x="457200" y="6412468"/>
            <a:ext cx="8534400" cy="369332"/>
          </a:xfrm>
          <a:prstGeom prst="rect">
            <a:avLst/>
          </a:prstGeom>
          <a:solidFill>
            <a:srgbClr val="92D050"/>
          </a:solidFill>
        </p:spPr>
        <p:txBody>
          <a:bodyPr wrap="squar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Romna\Desktop\3596406125_cfb365acd21.jpg"/>
          <p:cNvPicPr>
            <a:picLocks noChangeAspect="1" noChangeArrowheads="1"/>
          </p:cNvPicPr>
          <p:nvPr/>
        </p:nvPicPr>
        <p:blipFill>
          <a:blip r:embed="rId2" cstate="print"/>
          <a:srcRect/>
          <a:stretch>
            <a:fillRect/>
          </a:stretch>
        </p:blipFill>
        <p:spPr bwMode="auto">
          <a:xfrm>
            <a:off x="990600" y="2362200"/>
            <a:ext cx="7013217" cy="3348990"/>
          </a:xfrm>
          <a:prstGeom prst="rect">
            <a:avLst/>
          </a:prstGeom>
          <a:noFill/>
        </p:spPr>
      </p:pic>
      <p:sp>
        <p:nvSpPr>
          <p:cNvPr id="5" name="Rectangle 4"/>
          <p:cNvSpPr/>
          <p:nvPr/>
        </p:nvSpPr>
        <p:spPr>
          <a:xfrm>
            <a:off x="152400" y="457200"/>
            <a:ext cx="8686799" cy="3046988"/>
          </a:xfrm>
          <a:prstGeom prst="rect">
            <a:avLst/>
          </a:prstGeom>
        </p:spPr>
        <p:txBody>
          <a:bodyPr wrap="square">
            <a:spAutoFit/>
          </a:bodyPr>
          <a:lstStyle/>
          <a:p>
            <a:endParaRPr lang="en-US" sz="2400" dirty="0"/>
          </a:p>
          <a:p>
            <a:r>
              <a:rPr lang="en-US" sz="2400" dirty="0"/>
              <a:t>Students will be making clocks and showing time in the longitude assigned to them.</a:t>
            </a:r>
          </a:p>
          <a:p>
            <a:r>
              <a:rPr lang="en-US" sz="2400" b="1" dirty="0"/>
              <a:t>Follow up class </a:t>
            </a:r>
            <a:r>
              <a:rPr lang="en-US" sz="2400" dirty="0"/>
              <a:t>– Students will show a different  time on their clock and partners will locate the longitude having that local time. </a:t>
            </a:r>
          </a:p>
          <a:p>
            <a:endParaRPr lang="en-US" sz="2400" dirty="0"/>
          </a:p>
          <a:p>
            <a:endParaRPr lang="en-US" sz="2400" dirty="0"/>
          </a:p>
          <a:p>
            <a:r>
              <a:rPr lang="en-US" sz="2400" dirty="0"/>
              <a:t> </a:t>
            </a:r>
          </a:p>
        </p:txBody>
      </p:sp>
      <p:sp>
        <p:nvSpPr>
          <p:cNvPr id="6" name="TextBox 5"/>
          <p:cNvSpPr txBox="1"/>
          <p:nvPr/>
        </p:nvSpPr>
        <p:spPr>
          <a:xfrm>
            <a:off x="457200" y="152400"/>
            <a:ext cx="8305800" cy="523220"/>
          </a:xfrm>
          <a:prstGeom prst="rect">
            <a:avLst/>
          </a:prstGeom>
          <a:solidFill>
            <a:schemeClr val="accent3">
              <a:lumMod val="60000"/>
              <a:lumOff val="40000"/>
            </a:schemeClr>
          </a:solidFill>
        </p:spPr>
        <p:txBody>
          <a:bodyPr wrap="square" rtlCol="0">
            <a:spAutoFit/>
          </a:bodyPr>
          <a:lstStyle/>
          <a:p>
            <a:r>
              <a:rPr lang="en-US" sz="2800" b="1" dirty="0">
                <a:solidFill>
                  <a:srgbClr val="C00000"/>
                </a:solidFill>
                <a:latin typeface="Aharoni" pitchFamily="2" charset="-79"/>
                <a:cs typeface="Aharoni" pitchFamily="2" charset="-79"/>
              </a:rPr>
              <a:t>STUDENTS ACTIVITY</a:t>
            </a:r>
          </a:p>
        </p:txBody>
      </p:sp>
      <p:sp>
        <p:nvSpPr>
          <p:cNvPr id="7" name="TextBox 6"/>
          <p:cNvSpPr txBox="1"/>
          <p:nvPr/>
        </p:nvSpPr>
        <p:spPr>
          <a:xfrm>
            <a:off x="381000" y="5791200"/>
            <a:ext cx="7772400" cy="830997"/>
          </a:xfrm>
          <a:prstGeom prst="rect">
            <a:avLst/>
          </a:prstGeom>
          <a:noFill/>
        </p:spPr>
        <p:txBody>
          <a:bodyPr wrap="square" rtlCol="0">
            <a:spAutoFit/>
          </a:bodyPr>
          <a:lstStyle/>
          <a:p>
            <a:r>
              <a:rPr lang="en-US" sz="2400" b="1" dirty="0"/>
              <a:t> 21</a:t>
            </a:r>
            <a:r>
              <a:rPr lang="en-US" sz="2400" b="1" baseline="30000" dirty="0"/>
              <a:t>ST</a:t>
            </a:r>
            <a:r>
              <a:rPr lang="en-US" sz="2400" b="1" dirty="0"/>
              <a:t> CENTURY SKILL USED </a:t>
            </a:r>
            <a:r>
              <a:rPr lang="en-US" sz="2400" dirty="0"/>
              <a:t>–Critical thinking &amp; problem solving, Collaboration( twin-pair-share method used)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5029200"/>
          </a:xfrm>
        </p:spPr>
        <p:txBody>
          <a:bodyPr>
            <a:normAutofit/>
          </a:bodyPr>
          <a:lstStyle/>
          <a:p>
            <a:pPr>
              <a:buNone/>
            </a:pPr>
            <a:r>
              <a:rPr lang="en-US" sz="3000" b="1" dirty="0"/>
              <a:t>TOPIC</a:t>
            </a:r>
            <a:r>
              <a:rPr lang="en-US" sz="3000" dirty="0"/>
              <a:t> – MONSOON - A UNIFYING BOND IN INDIA</a:t>
            </a:r>
          </a:p>
          <a:p>
            <a:endParaRPr lang="en-US" sz="3000" dirty="0"/>
          </a:p>
          <a:p>
            <a:pPr>
              <a:buNone/>
            </a:pPr>
            <a:r>
              <a:rPr lang="en-US" sz="3000" b="1" dirty="0"/>
              <a:t>OBJECTIVE</a:t>
            </a:r>
            <a:r>
              <a:rPr lang="en-US" sz="3000" dirty="0"/>
              <a:t> –Students will be able to</a:t>
            </a:r>
          </a:p>
          <a:p>
            <a:r>
              <a:rPr lang="en-US" sz="3000" dirty="0"/>
              <a:t>Understand the importance of monsoon throughout India.</a:t>
            </a:r>
          </a:p>
          <a:p>
            <a:r>
              <a:rPr lang="en-US" sz="3000" dirty="0"/>
              <a:t> Utilize visual arts to express the importance of monsoon in India and its effect on people, </a:t>
            </a:r>
            <a:r>
              <a:rPr lang="en-US" sz="3000" dirty="0" err="1"/>
              <a:t>flora,fauna</a:t>
            </a:r>
            <a:r>
              <a:rPr lang="en-US" sz="3000" dirty="0"/>
              <a:t> and culture</a:t>
            </a:r>
            <a:endParaRPr lang="en-US" sz="3000" b="1" dirty="0"/>
          </a:p>
          <a:p>
            <a:endParaRPr lang="en-US" sz="3000" dirty="0"/>
          </a:p>
          <a:p>
            <a:endParaRPr lang="en-US" b="1" dirty="0"/>
          </a:p>
        </p:txBody>
      </p:sp>
      <p:sp>
        <p:nvSpPr>
          <p:cNvPr id="2" name="Title 1"/>
          <p:cNvSpPr>
            <a:spLocks noGrp="1"/>
          </p:cNvSpPr>
          <p:nvPr>
            <p:ph type="title"/>
          </p:nvPr>
        </p:nvSpPr>
        <p:spPr>
          <a:xfrm>
            <a:off x="457200" y="152400"/>
            <a:ext cx="8229600" cy="1295400"/>
          </a:xfrm>
          <a:solidFill>
            <a:srgbClr val="FFFF00"/>
          </a:solidFill>
        </p:spPr>
        <p:txBody>
          <a:bodyPr>
            <a:noAutofit/>
          </a:bodyPr>
          <a:lstStyle/>
          <a:p>
            <a:br>
              <a:rPr lang="en-US" sz="2800" b="1" dirty="0"/>
            </a:br>
            <a:r>
              <a:rPr lang="en-US" sz="3600" b="1" dirty="0"/>
              <a:t>ART INTEGRATED ACTIVITY – PAINTING/COLLAGE</a:t>
            </a:r>
            <a:br>
              <a:rPr lang="en-US" sz="2800" b="1" dirty="0"/>
            </a:b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Romna\Desktop\719gWMHTnSL._SX466_.jpg"/>
          <p:cNvPicPr>
            <a:picLocks noChangeAspect="1" noChangeArrowheads="1"/>
          </p:cNvPicPr>
          <p:nvPr/>
        </p:nvPicPr>
        <p:blipFill>
          <a:blip r:embed="rId2" cstate="print"/>
          <a:srcRect/>
          <a:stretch>
            <a:fillRect/>
          </a:stretch>
        </p:blipFill>
        <p:spPr bwMode="auto">
          <a:xfrm>
            <a:off x="1219200" y="1524000"/>
            <a:ext cx="6858000" cy="5150859"/>
          </a:xfrm>
          <a:prstGeom prst="rect">
            <a:avLst/>
          </a:prstGeom>
          <a:noFill/>
        </p:spPr>
      </p:pic>
      <p:sp>
        <p:nvSpPr>
          <p:cNvPr id="5" name="TextBox 4"/>
          <p:cNvSpPr txBox="1"/>
          <p:nvPr/>
        </p:nvSpPr>
        <p:spPr>
          <a:xfrm>
            <a:off x="228600" y="152400"/>
            <a:ext cx="8915400" cy="1200329"/>
          </a:xfrm>
          <a:prstGeom prst="rect">
            <a:avLst/>
          </a:prstGeom>
          <a:solidFill>
            <a:srgbClr val="FFFF00"/>
          </a:solidFill>
        </p:spPr>
        <p:txBody>
          <a:bodyPr wrap="square" rtlCol="0">
            <a:spAutoFit/>
          </a:bodyPr>
          <a:lstStyle/>
          <a:p>
            <a:r>
              <a:rPr lang="en-US" sz="2400" b="1" dirty="0"/>
              <a:t>IN THE WORLI ART, NOTICE THE BIG SWIRL DEPICTING RISE IN WATER LEVEL, CLOUDS GIVING RAIN AND HELPING IN AGRICULTURAL ACTIVITIES, PEOPLE ARE RELAXED AND HAPPY.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Six seasons - rainy | Indian art paintings, Phad painting ..."/>
          <p:cNvPicPr>
            <a:picLocks noChangeAspect="1" noChangeArrowheads="1"/>
          </p:cNvPicPr>
          <p:nvPr/>
        </p:nvPicPr>
        <p:blipFill>
          <a:blip r:embed="rId2" cstate="print"/>
          <a:srcRect/>
          <a:stretch>
            <a:fillRect/>
          </a:stretch>
        </p:blipFill>
        <p:spPr bwMode="auto">
          <a:xfrm>
            <a:off x="914400" y="1447800"/>
            <a:ext cx="7086600" cy="5410200"/>
          </a:xfrm>
          <a:prstGeom prst="rect">
            <a:avLst/>
          </a:prstGeom>
          <a:noFill/>
        </p:spPr>
      </p:pic>
      <p:sp>
        <p:nvSpPr>
          <p:cNvPr id="3" name="TextBox 2"/>
          <p:cNvSpPr txBox="1"/>
          <p:nvPr/>
        </p:nvSpPr>
        <p:spPr>
          <a:xfrm>
            <a:off x="381000" y="164068"/>
            <a:ext cx="8534400" cy="1323439"/>
          </a:xfrm>
          <a:prstGeom prst="rect">
            <a:avLst/>
          </a:prstGeom>
          <a:noFill/>
        </p:spPr>
        <p:txBody>
          <a:bodyPr wrap="square" rtlCol="0">
            <a:spAutoFit/>
          </a:bodyPr>
          <a:lstStyle/>
          <a:p>
            <a:r>
              <a:rPr lang="en-US" sz="2000" b="1" dirty="0"/>
              <a:t>IN THIS </a:t>
            </a:r>
            <a:r>
              <a:rPr lang="en-US" sz="2000" b="1" dirty="0">
                <a:solidFill>
                  <a:srgbClr val="FF0000"/>
                </a:solidFill>
              </a:rPr>
              <a:t>PATTACHITRA</a:t>
            </a:r>
            <a:r>
              <a:rPr lang="en-US" sz="2000" b="1" dirty="0"/>
              <a:t> WE CAN SEE THE LIFE IN FOREST REJOICES IN MONSOON. </a:t>
            </a:r>
            <a:r>
              <a:rPr lang="en-US" sz="2000" b="1" dirty="0">
                <a:solidFill>
                  <a:srgbClr val="00B050"/>
                </a:solidFill>
              </a:rPr>
              <a:t>TREES ARE FRESH </a:t>
            </a:r>
            <a:r>
              <a:rPr lang="en-US" sz="2000" b="1" dirty="0"/>
              <a:t>AND FULL OF LEAVES</a:t>
            </a:r>
            <a:r>
              <a:rPr lang="en-US" sz="2000" b="1" dirty="0">
                <a:solidFill>
                  <a:srgbClr val="00B0F0"/>
                </a:solidFill>
              </a:rPr>
              <a:t>, DEERS PLAYING </a:t>
            </a:r>
            <a:r>
              <a:rPr lang="en-US" sz="2000" b="1" dirty="0"/>
              <a:t>IN THE RAIN, </a:t>
            </a:r>
            <a:r>
              <a:rPr lang="en-US" sz="2000" b="1" dirty="0">
                <a:solidFill>
                  <a:srgbClr val="FF0000"/>
                </a:solidFill>
              </a:rPr>
              <a:t>PEACOCKS UNFURL </a:t>
            </a:r>
            <a:r>
              <a:rPr lang="en-US" sz="2000" b="1" dirty="0"/>
              <a:t>THEIR FEATHERS AND DANCE IN RAIN, </a:t>
            </a:r>
            <a:r>
              <a:rPr lang="en-US" sz="2000" b="1" dirty="0">
                <a:solidFill>
                  <a:srgbClr val="7030A0"/>
                </a:solidFill>
              </a:rPr>
              <a:t>LOTUS,WATER LILY, JASMINE BLOSSOM </a:t>
            </a:r>
            <a:r>
              <a:rPr lang="en-US" sz="2000" b="1"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srcRect/>
          <a:stretch>
            <a:fillRect/>
          </a:stretch>
        </p:blipFill>
        <p:spPr bwMode="auto">
          <a:xfrm>
            <a:off x="990600" y="838200"/>
            <a:ext cx="7620000" cy="5506765"/>
          </a:xfrm>
          <a:prstGeom prst="rect">
            <a:avLst/>
          </a:prstGeom>
          <a:noFill/>
          <a:ln w="9525">
            <a:noFill/>
            <a:miter lim="800000"/>
            <a:headEnd/>
            <a:tailEnd/>
          </a:ln>
        </p:spPr>
      </p:pic>
      <p:sp>
        <p:nvSpPr>
          <p:cNvPr id="5" name="TextBox 4"/>
          <p:cNvSpPr txBox="1"/>
          <p:nvPr/>
        </p:nvSpPr>
        <p:spPr>
          <a:xfrm>
            <a:off x="304800" y="2590800"/>
            <a:ext cx="4343400" cy="2862322"/>
          </a:xfrm>
          <a:prstGeom prst="rect">
            <a:avLst/>
          </a:prstGeom>
          <a:solidFill>
            <a:schemeClr val="bg1"/>
          </a:solidFill>
        </p:spPr>
        <p:txBody>
          <a:bodyPr wrap="square" rtlCol="0">
            <a:spAutoFit/>
          </a:bodyPr>
          <a:lstStyle/>
          <a:p>
            <a:r>
              <a:rPr lang="en-US" dirty="0"/>
              <a:t>The drink </a:t>
            </a:r>
            <a:r>
              <a:rPr lang="en-US" b="1" dirty="0"/>
              <a:t>Coca</a:t>
            </a:r>
            <a:r>
              <a:rPr lang="en-US" dirty="0"/>
              <a:t>-</a:t>
            </a:r>
            <a:r>
              <a:rPr lang="en-US" b="1" dirty="0"/>
              <a:t>Cola</a:t>
            </a:r>
            <a:r>
              <a:rPr lang="en-US" dirty="0"/>
              <a:t> was originated in 1886 by an Atlanta pharmacist, John </a:t>
            </a:r>
            <a:r>
              <a:rPr lang="en-US" dirty="0" err="1"/>
              <a:t>S.Pemberton</a:t>
            </a:r>
            <a:r>
              <a:rPr lang="en-US" dirty="0"/>
              <a:t> originally touted his drink as a tonic for most common ailments, basing it on cocaine from the </a:t>
            </a:r>
            <a:r>
              <a:rPr lang="en-US" b="1" dirty="0"/>
              <a:t>coca</a:t>
            </a:r>
            <a:r>
              <a:rPr lang="en-US" dirty="0"/>
              <a:t> leaf and caffeine-rich extracts of the</a:t>
            </a:r>
            <a:r>
              <a:rPr lang="en-US" b="1" dirty="0"/>
              <a:t> kola </a:t>
            </a:r>
            <a:r>
              <a:rPr lang="en-US" dirty="0"/>
              <a:t>nut; It was sold for 5 cents in drug stores all across Atlanta. It rapidly grew popular across USA.</a:t>
            </a:r>
          </a:p>
          <a:p>
            <a:r>
              <a:rPr lang="en-US" dirty="0"/>
              <a:t> The cocaine was removed from </a:t>
            </a:r>
            <a:r>
              <a:rPr lang="en-US" b="1" dirty="0"/>
              <a:t>Coca</a:t>
            </a:r>
            <a:r>
              <a:rPr lang="en-US" dirty="0"/>
              <a:t>-</a:t>
            </a:r>
            <a:r>
              <a:rPr lang="en-US" b="1" dirty="0"/>
              <a:t>Cola's</a:t>
            </a:r>
            <a:r>
              <a:rPr lang="en-US" dirty="0"/>
              <a:t> formula in about 1903.</a:t>
            </a:r>
          </a:p>
        </p:txBody>
      </p:sp>
      <p:sp>
        <p:nvSpPr>
          <p:cNvPr id="6" name="TextBox 5"/>
          <p:cNvSpPr txBox="1"/>
          <p:nvPr/>
        </p:nvSpPr>
        <p:spPr>
          <a:xfrm>
            <a:off x="228600" y="152400"/>
            <a:ext cx="8686800" cy="1754326"/>
          </a:xfrm>
          <a:prstGeom prst="rect">
            <a:avLst/>
          </a:prstGeom>
          <a:solidFill>
            <a:schemeClr val="bg1"/>
          </a:solidFill>
        </p:spPr>
        <p:txBody>
          <a:bodyPr wrap="square" rtlCol="0">
            <a:spAutoFit/>
          </a:bodyPr>
          <a:lstStyle/>
          <a:p>
            <a:r>
              <a:rPr lang="en-US" sz="4000" b="1" dirty="0">
                <a:latin typeface="Algerian" pitchFamily="82" charset="0"/>
              </a:rPr>
              <a:t>THE JOURNEY OF THE COKE BOTTLE -</a:t>
            </a:r>
            <a:r>
              <a:rPr lang="en-US" sz="2800" b="1" cap="all" dirty="0">
                <a:latin typeface="Algerian" pitchFamily="82" charset="0"/>
              </a:rPr>
              <a:t>INTERLINKING COUNTRIES -WORTH A FULFILLING DRINK </a:t>
            </a:r>
            <a:endParaRPr lang="en-US" sz="2800" b="1" dirty="0">
              <a:latin typeface="Algerian" pitchFamily="82" charset="0"/>
            </a:endParaRPr>
          </a:p>
        </p:txBody>
      </p:sp>
      <p:sp>
        <p:nvSpPr>
          <p:cNvPr id="8" name="TextBox 7"/>
          <p:cNvSpPr txBox="1"/>
          <p:nvPr/>
        </p:nvSpPr>
        <p:spPr>
          <a:xfrm>
            <a:off x="0" y="5486400"/>
            <a:ext cx="4800600" cy="1384995"/>
          </a:xfrm>
          <a:prstGeom prst="rect">
            <a:avLst/>
          </a:prstGeom>
          <a:solidFill>
            <a:srgbClr val="FFC000"/>
          </a:solidFill>
        </p:spPr>
        <p:txBody>
          <a:bodyPr wrap="square" rtlCol="0">
            <a:spAutoFit/>
          </a:bodyPr>
          <a:lstStyle/>
          <a:p>
            <a:r>
              <a:rPr lang="en-US" sz="2800" dirty="0"/>
              <a:t>TOOL USED FOR INTRODUCING TOPIC IS STORY MAPPING THROUGH LUCIDCHART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52400"/>
            <a:ext cx="8382000" cy="1200329"/>
          </a:xfrm>
          <a:prstGeom prst="rect">
            <a:avLst/>
          </a:prstGeom>
          <a:noFill/>
        </p:spPr>
        <p:txBody>
          <a:bodyPr wrap="square" rtlCol="0">
            <a:spAutoFit/>
          </a:bodyPr>
          <a:lstStyle/>
          <a:p>
            <a:r>
              <a:rPr lang="en-US" dirty="0"/>
              <a:t>During World War II, Coca-Cola President Robert Woodruff believed that every American serviceman and woman should have a Coke at their disposal for five </a:t>
            </a:r>
            <a:r>
              <a:rPr lang="en-US" dirty="0" err="1"/>
              <a:t>cents,which</a:t>
            </a:r>
            <a:r>
              <a:rPr lang="en-US" dirty="0"/>
              <a:t>  later established Coke as a global corporation by introducing the product to different markets</a:t>
            </a:r>
          </a:p>
        </p:txBody>
      </p:sp>
      <p:pic>
        <p:nvPicPr>
          <p:cNvPr id="2050" name="Picture 2" descr="C:\Users\Romna\Documents\romna school 2020\ART INTEGRATED ACTIVITIES\58f685d49a05a.image.jpg"/>
          <p:cNvPicPr>
            <a:picLocks noChangeAspect="1" noChangeArrowheads="1"/>
          </p:cNvPicPr>
          <p:nvPr/>
        </p:nvPicPr>
        <p:blipFill>
          <a:blip r:embed="rId2" cstate="print"/>
          <a:srcRect/>
          <a:stretch>
            <a:fillRect/>
          </a:stretch>
        </p:blipFill>
        <p:spPr bwMode="auto">
          <a:xfrm>
            <a:off x="762000" y="1320165"/>
            <a:ext cx="7772400" cy="5537835"/>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2" cstate="print"/>
          <a:srcRect/>
          <a:stretch>
            <a:fillRect/>
          </a:stretch>
        </p:blipFill>
        <p:spPr bwMode="auto">
          <a:xfrm>
            <a:off x="457200" y="1355534"/>
            <a:ext cx="8686800" cy="5293617"/>
          </a:xfrm>
          <a:prstGeom prst="rect">
            <a:avLst/>
          </a:prstGeom>
          <a:noFill/>
          <a:ln w="9525">
            <a:noFill/>
            <a:miter lim="800000"/>
            <a:headEnd/>
            <a:tailEnd/>
          </a:ln>
        </p:spPr>
      </p:pic>
      <p:sp>
        <p:nvSpPr>
          <p:cNvPr id="3" name="TextBox 2"/>
          <p:cNvSpPr txBox="1"/>
          <p:nvPr/>
        </p:nvSpPr>
        <p:spPr>
          <a:xfrm>
            <a:off x="457200" y="152400"/>
            <a:ext cx="8382000" cy="1200329"/>
          </a:xfrm>
          <a:prstGeom prst="rect">
            <a:avLst/>
          </a:prstGeom>
          <a:noFill/>
        </p:spPr>
        <p:txBody>
          <a:bodyPr wrap="square" rtlCol="0">
            <a:spAutoFit/>
          </a:bodyPr>
          <a:lstStyle/>
          <a:p>
            <a:r>
              <a:rPr lang="en-US" dirty="0"/>
              <a:t>The Coca-Cola Company produces </a:t>
            </a:r>
            <a:r>
              <a:rPr lang="en-US" dirty="0">
                <a:hlinkClick r:id="rId3" tooltip="Concentrate"/>
              </a:rPr>
              <a:t>concentrate</a:t>
            </a:r>
            <a:r>
              <a:rPr lang="en-US" dirty="0"/>
              <a:t>, which is then sold to licensed Coca-Cola bottlers throughout the world. The bottlers produce the final drink by mixing the syrup with filtered water and sweeteners, putting the mixture into cans and bottles, and carbonating it, which the bottlers then sell and distribute to retail stores.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3133</TotalTime>
  <Words>390</Words>
  <Application>Microsoft Macintosh PowerPoint</Application>
  <PresentationFormat>On-screen Show (4:3)</PresentationFormat>
  <Paragraphs>22</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Aharoni</vt:lpstr>
      <vt:lpstr>Algerian</vt:lpstr>
      <vt:lpstr>Arial</vt:lpstr>
      <vt:lpstr>Calibri</vt:lpstr>
      <vt:lpstr>Office Theme</vt:lpstr>
      <vt:lpstr>PowerPoint Presentation</vt:lpstr>
      <vt:lpstr>PowerPoint Presentation</vt:lpstr>
      <vt:lpstr> ART INTEGRATED ACTIVITY – PAINTING/COLLAGE </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Romna</dc:creator>
  <cp:lastModifiedBy>Daivik Gururaj Pelathur</cp:lastModifiedBy>
  <cp:revision>193</cp:revision>
  <dcterms:created xsi:type="dcterms:W3CDTF">2020-09-04T02:05:08Z</dcterms:created>
  <dcterms:modified xsi:type="dcterms:W3CDTF">2026-01-07T06:53:20Z</dcterms:modified>
</cp:coreProperties>
</file>